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5568" y="5212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500" dirty="0"/>
          </a:p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INTELLIGENCE TERMINAL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headline to distribution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probabilistic framework for pricing geopolitical supply shocks into Brent calendar spreads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8138160" cy="950976"/>
          </a:xfrm>
          <a:prstGeom prst="roundRect">
            <a:avLst>
              <a:gd name="adj" fmla="val 769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5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“Israel launches strikes on Iranian energy infrastructure. Iran threatens closure of the Strait of Hormuz.”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221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1-week probability distributions for Brent M1-M2, M2-M4, M1-M6 — expected value, 50% and 90% ranges, scenario probabilities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0965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     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event study (13 events, 2018-2025)  ·  scenario tree  ·  Monte Carlo mixture (200k draws)  ·  regime-conditional vol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526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Peruka Pranav  ·  Futures First internship  ·  data as of 2026-05-26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from headline to tradeable distribution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75104" cy="2212848"/>
          </a:xfrm>
          <a:prstGeom prst="roundRect">
            <a:avLst>
              <a:gd name="adj" fmla="val 3241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TYPE THE EVENT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920240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Severity-tier the headline against a 13-event catalogue (2018-2025). This one: kinetic strike on energy infrastructure (Tier 3) with a threatened Tier-4 escalation.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15184" y="1371600"/>
            <a:ext cx="1975104" cy="2212848"/>
          </a:xfrm>
          <a:prstGeom prst="roundRect">
            <a:avLst>
              <a:gd name="adj" fmla="val 3241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MEASURE ANALOGS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34056" y="1920240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study: Δ spread over the 5 trading days after each event, from the last close before it. The June 2025 Israel-Iran war is the direct analog — it is in our data.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27448" y="1371600"/>
            <a:ext cx="1975104" cy="2212848"/>
          </a:xfrm>
          <a:prstGeom prst="roundRect">
            <a:avLst>
              <a:gd name="adj" fmla="val 3241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BUILD SCENARIOS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exhaustive outcomes for the week, probabilities anchored to historical escalation frequency + structural arguments. Each gets a per-spread conditional (μ, σ).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39712" y="1371600"/>
            <a:ext cx="1975104" cy="2212848"/>
          </a:xfrm>
          <a:prstGeom prst="roundRect">
            <a:avLst>
              <a:gd name="adj" fmla="val 3241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58584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MIX &amp; SIMULATE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58584" y="1920240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Carlo: draw scenario, then spread changes with one-factor correlation (ρ = 0.84 measured). 200k draws → EV, 50%, 90% intervals per spread.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1430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5020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not a point forecast. A geopolitical shock is a mixture of regimes with very different outcomes — the honest answer is the whole distribution, with the scenario weights stated so they can be argued with.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supply threat prices into the futures curve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scarcity premium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80360" y="129844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barrels at risk are near-dated. Buyers pay up for prompt delivery → M1 rallies vs deferred → backwardation steepens, front spreads widen first.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Belly repricing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201168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outage is expected to PERSIST, the 2-6 month curve reprices too. Abqaiq 2019: M2-M4 moved +0.69 while M1-M2 moved only +0.07 — SPR-release expectations cap the prompt.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Freight, insurance &amp; routing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2724912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War-risk premia on Hormuz transits push landed costs up and slow flows even with the strait open — a tax on prompt supply.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4381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offsets &amp; releases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3438144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reserve releases and demand destruction act with a lag — they cap the FRONT more than the belly, skewing event risk toward M2-M4 / M1-M6.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298448"/>
            <a:ext cx="2377440" cy="2798064"/>
          </a:xfrm>
          <a:prstGeom prst="roundRect">
            <a:avLst>
              <a:gd name="adj" fmla="val 3077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4264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CONDITIONS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28232" y="16642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 </a:t>
            </a:r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/ LOW / STRESSED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backwardation + storage deficit + stressed vol (PULSE classifier)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28232" y="2395728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M1-M2   2.91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M2-M4   5.77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M1-M6  12.98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8232" y="3218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is already STRETCHED: M1-M2 at 2.91 vs 10-yr p99 of 5.22. The geopolitical premium partially priced → de-escalation has real downside.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1-2 · HISTORICAL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supply-threat events, measured 5-day spread response</a:t>
            </a:r>
            <a:endParaRPr lang="en-US" sz="2100" dirty="0"/>
          </a:p>
        </p:txBody>
      </p:sp>
      <p:pic>
        <p:nvPicPr>
          <p:cNvPr id="4" name="Image 0" descr="C:\Users\peruka.pranav\Downloads\pulse\backend\data\research\event_study\chart_event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8375904" cy="30723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22452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4288536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verbal / proxy</a:t>
            </a:r>
            <a:endParaRPr lang="en-US" sz="860" dirty="0"/>
          </a:p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JCPOA, drone, Soleimani, 2024 exchanges: ±0.0-0.3 — noise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3291840" y="422452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01568" y="4288536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2-3 — kinetic on infra</a:t>
            </a:r>
            <a:endParaRPr lang="en-US" sz="860" dirty="0"/>
          </a:p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Abqaiq: belly +0.7 to +1.2 · June 2025 war: +0.6 / +1.2 / +2.5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6080760" y="422452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4288536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— supply war</a:t>
            </a:r>
            <a:endParaRPr lang="en-US" sz="860" dirty="0"/>
          </a:p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2022: +1.1 / +3.3 / +6.5 — observed ceiling for one week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 ANALOG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2025: the same headline, watched day by day</a:t>
            </a:r>
            <a:endParaRPr lang="en-US" sz="2200" dirty="0"/>
          </a:p>
        </p:txBody>
      </p:sp>
      <p:pic>
        <p:nvPicPr>
          <p:cNvPr id="4" name="Image 0" descr="C:\Users\peruka.pranav\Downloads\pulse\backend\data\research\event_study\chart_june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8375904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3708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teaches: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spreads spike within 2-4 sessions while strikes continue — D+5 deltas were +0.61 / +1.19 / +2.48;  (2) the premium COLLAPSES on ceasefire — M1-M2 gave back 0.57 in one session;  (3) the week-end outcome is therefore binary-ish around the ceasefire question → exactly why we model a scenario mixture.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SCENARIOS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outcomes for the week — probabilities you can argue with</a:t>
            </a:r>
            <a:endParaRPr lang="en-US" sz="2100" dirty="0"/>
          </a:p>
        </p:txBody>
      </p:sp>
      <p:pic>
        <p:nvPicPr>
          <p:cNvPr id="4" name="Image 0" descr="C:\Users\peruka.pranav\Downloads\pulse\backend\data\research\event_study\chart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42416"/>
            <a:ext cx="6400800" cy="2532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042416"/>
            <a:ext cx="1783080" cy="585216"/>
          </a:xfrm>
          <a:prstGeom prst="roundRect">
            <a:avLst>
              <a:gd name="adj" fmla="val 9375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108813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 De-escalation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2025 reached ceasefire in 8 trading days; symbolic-response precedent (Apr &amp; Oct 2024)</a:t>
            </a:r>
            <a:endParaRPr lang="en-US" sz="840" dirty="0"/>
          </a:p>
        </p:txBody>
      </p:sp>
      <p:sp>
        <p:nvSpPr>
          <p:cNvPr id="7" name="Shape 4"/>
          <p:cNvSpPr/>
          <p:nvPr/>
        </p:nvSpPr>
        <p:spPr>
          <a:xfrm>
            <a:off x="6903720" y="1700784"/>
            <a:ext cx="1783080" cy="585216"/>
          </a:xfrm>
          <a:prstGeom prst="roundRect">
            <a:avLst>
              <a:gd name="adj" fmla="val 9375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95160" y="174650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 Sustained, Hormuz open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case: strikes continue, shipping flows — the June-2025 D+5 state</a:t>
            </a:r>
            <a:endParaRPr lang="en-US" sz="840" dirty="0"/>
          </a:p>
        </p:txBody>
      </p:sp>
      <p:sp>
        <p:nvSpPr>
          <p:cNvPr id="9" name="Shape 6"/>
          <p:cNvSpPr/>
          <p:nvPr/>
        </p:nvSpPr>
        <p:spPr>
          <a:xfrm>
            <a:off x="6903720" y="2359152"/>
            <a:ext cx="1783080" cy="585216"/>
          </a:xfrm>
          <a:prstGeom prst="roundRect">
            <a:avLst>
              <a:gd name="adj" fmla="val 9375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240487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 Partial disruption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Tanker War 1984-88 precedent: harassment, mining, seizures — flows impaired, not stopped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6903720" y="3017520"/>
            <a:ext cx="1783080" cy="585216"/>
          </a:xfrm>
          <a:prstGeom prst="roundRect">
            <a:avLst>
              <a:gd name="adj" fmla="val 9375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306324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 Closure attempt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observed in 40 yrs. Iran exports 1.5-1.7 mb/d through Hormuz itself — self-deterrence + US 5th Fleet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502920" y="37490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Parameterisation: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means anchored to measured event deltas (S2 = June-2025 verbatim; S3 = 2.5× Abqaiq; S4 = 1.2× Russia-2022 + lognormal right tail). σ floors at BACK-regime weekly vol (1.02 / 1.23 / 2.71) — a scenario never claims more precision than baseline regime noise. De-escalation mean is tilted NEGATIVE (-0.48 / -0.63 / -1.29): the stretched base unwinds, as on 2025-06-23.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RESULTS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M1-M2 — one-week distribution</a:t>
            </a:r>
            <a:endParaRPr lang="en-US" sz="2300" dirty="0"/>
          </a:p>
        </p:txBody>
      </p:sp>
      <p:pic>
        <p:nvPicPr>
          <p:cNvPr id="4" name="Image 0" descr="C:\Users\peruka.pranav\Downloads\pulse\backend\data\research\event_study\chart_dist_m1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0"/>
            <a:ext cx="5806440" cy="2779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887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0528" y="12618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LEVEL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10528" y="14356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510528" y="175564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2026-05-26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400800" y="2121408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219456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(1 WK)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10528" y="2368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3.24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10528" y="268833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+0.33 $/bbl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400800" y="305409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528" y="312724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P(SPREAD WIDENS)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55%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510528" y="362102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200k draws above 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84048" y="4041648"/>
            <a:ext cx="8375904" cy="420624"/>
          </a:xfrm>
          <a:prstGeom prst="roundRect">
            <a:avLst>
              <a:gd name="adj" fmla="val 13043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0965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range  </a:t>
            </a:r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2.15 – 4.13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90% range  </a:t>
            </a:r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 – 6.04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($/bbl, spread LEVEL)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45171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coin-flip of the three: P(widen) only 55% — the stretched 2.91 base unwinds hardest on de-escalation; fat right tail through 5.0 if Hormuz is touched.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RESULTS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M2-M4 — one-week distribution</a:t>
            </a:r>
            <a:endParaRPr lang="en-US" sz="2300" dirty="0"/>
          </a:p>
        </p:txBody>
      </p:sp>
      <p:pic>
        <p:nvPicPr>
          <p:cNvPr id="4" name="Image 0" descr="C:\Users\peruka.pranav\Downloads\pulse\backend\data\research\event_study\chart_dist_m2_m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0"/>
            <a:ext cx="5806440" cy="2779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887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0528" y="12618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LEVEL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10528" y="14356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5.77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510528" y="175564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2026-05-26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400800" y="2121408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219456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(1 WK)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10528" y="2368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6.85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10528" y="268833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+1.08 $/bbl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400800" y="305409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528" y="312724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P(SPREAD WIDENS)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65%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510528" y="362102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200k draws above 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84048" y="4041648"/>
            <a:ext cx="8375904" cy="420624"/>
          </a:xfrm>
          <a:prstGeom prst="roundRect">
            <a:avLst>
              <a:gd name="adj" fmla="val 13043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0965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range  </a:t>
            </a:r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5.26 – 8.01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90% range  </a:t>
            </a:r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3.66 – 11.05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($/bbl, spread LEVEL)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45171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cleanest event signal: P(widen) 65%. Infrastructure damage reprices 2-4 month supply with no SPR offset — the Abqaiq lesson.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RESULTS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M1-M6 — one-week distribution</a:t>
            </a:r>
            <a:endParaRPr lang="en-US" sz="2300" dirty="0"/>
          </a:p>
        </p:txBody>
      </p:sp>
      <p:pic>
        <p:nvPicPr>
          <p:cNvPr id="4" name="Image 0" descr="C:\Users\peruka.pranav\Downloads\pulse\backend\data\research\event_study\chart_dist_m1_m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0"/>
            <a:ext cx="5806440" cy="2779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887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0528" y="12618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LEVEL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10528" y="14356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12.98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510528" y="175564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2026-05-26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400800" y="2121408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219456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(1 WK)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10528" y="236829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15.09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10528" y="268833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+2.11 $/bbl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400800" y="305409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528" y="312724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P(SPREAD WIDENS)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64%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510528" y="362102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200k draws above 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84048" y="4041648"/>
            <a:ext cx="8375904" cy="420624"/>
          </a:xfrm>
          <a:prstGeom prst="roundRect">
            <a:avLst>
              <a:gd name="adj" fmla="val 13043"/>
            </a:avLst>
          </a:prstGeom>
          <a:solidFill>
            <a:srgbClr val="131A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0965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range  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11.73 – 17.54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90% range  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8.22 – 23.91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($/bbl, spread LEVEL)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45171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absolute range (90%: 8.2 - 23.9) — where a closure attempt is most visible: the S4 conditional mean alone is +7.8.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answer, on one slide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356360"/>
                <a:gridCol w="1356360"/>
                <a:gridCol w="1356360"/>
                <a:gridCol w="1356360"/>
                <a:gridCol w="1356360"/>
                <a:gridCol w="1356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SPREAD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 (1 WK)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50% RANGE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90% RANGE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P(WIDEN)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M1-M2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2.91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3.24 (+0.33)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2.15 – 4.13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0.78 – 6.04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D3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M2-M4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5.77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6.85 (+1.08)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5.26 – 8.01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3.66 – 11.05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M1-M6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12.98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15.09 (+2.11)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11.73 – 17.54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8.22 – 23.91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3163824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n=13 events, one Tier-4 — the closure tail is judgment anchored on Russia-2022, not estimated</a:t>
            </a:r>
            <a:endParaRPr lang="en-US" sz="88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levels already stretched (p97+): symmetric vol assumptions understate downside on de-escalation</a:t>
            </a:r>
            <a:endParaRPr lang="en-US" sz="88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probabilities are priors — built to be argued with, then re-run in seconds</a:t>
            </a:r>
            <a:endParaRPr lang="en-US" sz="88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One-factor ρ=0.84 understates tail co-movement; spreads decouple in squeezes</a:t>
            </a:r>
            <a:endParaRPr lang="en-US" sz="880" dirty="0"/>
          </a:p>
        </p:txBody>
      </p:sp>
      <p:sp>
        <p:nvSpPr>
          <p:cNvPr id="7" name="Text 4"/>
          <p:cNvSpPr/>
          <p:nvPr/>
        </p:nvSpPr>
        <p:spPr>
          <a:xfrm>
            <a:off x="4709160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RE-WEIGHT THE SCENARIOS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09160" y="3163824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Tanker war-risk insurance quotes (first to move on real Hormuz risk)</a:t>
            </a:r>
            <a:endParaRPr lang="en-US" sz="88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Iranian export loadings at Kharg Island (satellite-tracked)</a:t>
            </a:r>
            <a:endParaRPr lang="en-US" sz="88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carrier-group positioning + ceasefire backchannel headlines</a:t>
            </a:r>
            <a:endParaRPr lang="en-US" sz="88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runs live in PULSE: event → tier → mixture → distribution, refreshed daily against the regime classifier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·  Event-to-Distribution Framework  ·  June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Event to Distribution</dc:title>
  <dc:subject>PptxGenJS Presentation</dc:subject>
  <dc:creator>Peruka Pranav</dc:creator>
  <cp:lastModifiedBy>Peruka Pranav</cp:lastModifiedBy>
  <cp:revision>1</cp:revision>
  <dcterms:created xsi:type="dcterms:W3CDTF">2026-06-12T06:03:01Z</dcterms:created>
  <dcterms:modified xsi:type="dcterms:W3CDTF">2026-06-12T06:03:01Z</dcterms:modified>
</cp:coreProperties>
</file>